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er-spark-feed.lovable.app/invest" TargetMode="External"/><Relationship Id="rId1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11C36"/>
          </a:solidFill>
          <a:ln w="12700">
            <a:solidFill>
              <a:srgbClr val="111C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10972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TRAVIDZ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91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Creator-led travel commerce  ·  Seed round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91440"/>
            <a:ext cx="580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 SAFE  ·  18-mo runway  ·  Next: Series A at £18M ARR run-rate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5669280"/>
            <a:ext cx="11825935" cy="1005840"/>
          </a:xfrm>
          <a:prstGeom prst="roundRect">
            <a:avLst>
              <a:gd name="adj" fmla="val 11818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£87.6B / £675B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/ Global · ONS · Eurostat · UNWTO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39364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7964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67964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£23.2B / £175B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67964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creator-influenced × bookable (global blend)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95848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SOM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24448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£350M → £1.32B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24448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Base → Global Viral · £16.2M → £61.6M net @ 4.65%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80931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£2.5M SAFE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80931" y="59618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1051" y="6053328"/>
            <a:ext cx="1584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· post → Series 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80931" y="6364224"/>
            <a:ext cx="999714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9219" y="6373368"/>
            <a:ext cx="9814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40%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280645" y="6364224"/>
            <a:ext cx="874749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98933" y="6373368"/>
            <a:ext cx="856461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35%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1155394" y="6364224"/>
            <a:ext cx="374893" cy="1645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530287" y="6364224"/>
            <a:ext cx="249928" cy="16459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58488" y="548640"/>
            <a:ext cx="3474720" cy="4937760"/>
          </a:xfrm>
          <a:prstGeom prst="roundRect">
            <a:avLst>
              <a:gd name="adj" fmla="val 3947"/>
            </a:avLst>
          </a:prstGeom>
          <a:solidFill>
            <a:srgbClr val="111C36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731520"/>
            <a:ext cx="3108960" cy="31089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449928" y="420624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Discover. Book. Earn.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449928" y="448056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shoppable feed for travel.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41368" y="4754880"/>
            <a:ext cx="3108960" cy="310896"/>
          </a:xfrm>
          <a:prstGeom prst="roundRect">
            <a:avLst>
              <a:gd name="adj" fmla="val 4411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0">
            <a:hlinkClick r:id="rId2" tooltip="Open the live investor pitch"/>
          </p:cNvPr>
          <p:cNvSpPr/>
          <p:nvPr/>
        </p:nvSpPr>
        <p:spPr>
          <a:xfrm>
            <a:off x="454136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live investor pitc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Live pitch · wander-spark-feed.lovable.app/invest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699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699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6843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843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5987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987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82880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0040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29768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365760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moved to creators; booking didn't.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£675B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global leisure-travel bookings flow through OTAs that pay creators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£0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own the customer. Creators send the intent — OTAs keep the margin and the data.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82880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20040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29768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(organic, UK)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3,200+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LOIs · 4.2M reach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signed · 3 cities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182880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29768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65760" y="4425696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94360" y="437083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1097280" y="4370832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ex-Booking.com · scaled supply 0→1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365760" y="4736592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594360" y="46817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1097280" y="4681728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ex-TikTok Shop · creator-commerce rails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365760" y="5047488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94360" y="499262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CPO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1097280" y="4992624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ex-Airbnb · marketplace growth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970368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107528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217256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153248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Shoppable travel feed.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Creator posts trip → traveller books in 2 taps → creator earns for life. Native checkout, unified inventory (stays · tours · experiences), persistent attribution.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7970368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107528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217256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8153248" y="2670048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Take-rate 4-7%  ·  blended Y5 4.65%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8153248" y="2907792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Creator rev-share 30-50% of net</a:t>
            </a:r>
            <a:endParaRPr lang="en-US" sz="950" dirty="0"/>
          </a:p>
        </p:txBody>
      </p:sp>
      <p:sp>
        <p:nvSpPr>
          <p:cNvPr id="74" name="Text 71"/>
          <p:cNvSpPr/>
          <p:nvPr/>
        </p:nvSpPr>
        <p:spPr>
          <a:xfrm>
            <a:off x="8153248" y="3145536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~55% contribution margin at scale</a:t>
            </a:r>
            <a:endParaRPr lang="en-US" sz="950" dirty="0"/>
          </a:p>
        </p:txBody>
      </p:sp>
      <p:sp>
        <p:nvSpPr>
          <p:cNvPr id="75" name="Text 72"/>
          <p:cNvSpPr/>
          <p:nvPr/>
        </p:nvSpPr>
        <p:spPr>
          <a:xfrm>
            <a:off x="8153248" y="3383280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paid acquisition Y1-2 (creator-led)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8153248" y="3621024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EBITDA breakeven M48 · Y1 EBITDA −£1.56M · +£181k cash cushion</a:t>
            </a:r>
            <a:endParaRPr lang="en-US" sz="950" dirty="0"/>
          </a:p>
        </p:txBody>
      </p:sp>
      <p:sp>
        <p:nvSpPr>
          <p:cNvPr id="77" name="Shape 74"/>
          <p:cNvSpPr/>
          <p:nvPr/>
        </p:nvSpPr>
        <p:spPr>
          <a:xfrm>
            <a:off x="7970368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107528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217256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PLAN: PROVE → SCALE → DEFEND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8153248" y="4407408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153248" y="440740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800" dirty="0"/>
          </a:p>
        </p:txBody>
      </p:sp>
      <p:sp>
        <p:nvSpPr>
          <p:cNvPr id="82" name="Text 79"/>
          <p:cNvSpPr/>
          <p:nvPr/>
        </p:nvSpPr>
        <p:spPr>
          <a:xfrm>
            <a:off x="8839048" y="4370832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M0-18 · UK · 2.4k cr · £44M GBV · 40% M3 retention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8153248" y="47183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8153248" y="471830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839048" y="4681728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M18-44 · EU-5 · 14k cr · £259M · CAC payback &lt;6mo</a:t>
            </a:r>
            <a:endParaRPr lang="en-US" sz="750" dirty="0"/>
          </a:p>
        </p:txBody>
      </p:sp>
      <p:sp>
        <p:nvSpPr>
          <p:cNvPr id="86" name="Shape 83"/>
          <p:cNvSpPr/>
          <p:nvPr/>
        </p:nvSpPr>
        <p:spPr>
          <a:xfrm>
            <a:off x="8153248" y="502920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8153248" y="50292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800" dirty="0"/>
          </a:p>
        </p:txBody>
      </p:sp>
      <p:sp>
        <p:nvSpPr>
          <p:cNvPr id="88" name="Text 85"/>
          <p:cNvSpPr/>
          <p:nvPr/>
        </p:nvSpPr>
        <p:spPr>
          <a:xfrm>
            <a:off x="8839048" y="4992624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M44-60 · 24k cr · £350M UK Base · Global Viral upside £1.32B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2026-05-18T20:54:42Z</dcterms:created>
  <dcterms:modified xsi:type="dcterms:W3CDTF">2026-05-18T20:54:42Z</dcterms:modified>
</cp:coreProperties>
</file>