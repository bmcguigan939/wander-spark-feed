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ander-spark-feed.lovable.app/invest" TargetMode="External"/><Relationship Id="rId1" Type="http://schemas.openxmlformats.org/officeDocument/2006/relationships/image" Target="../media/image-1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11C36"/>
          </a:solidFill>
          <a:ln w="12700">
            <a:solidFill>
              <a:srgbClr val="111C3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109728"/>
            <a:ext cx="237744" cy="237744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TRAVIDZ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737360" y="914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Creator-led travel commerce  ·  Seed round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91440"/>
            <a:ext cx="5806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 SAFE  ·  18-mo runway  ·  Next: Series A at £18M ARR run-rate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82880" y="5669280"/>
            <a:ext cx="11825935" cy="1005840"/>
          </a:xfrm>
          <a:prstGeom prst="roundRect">
            <a:avLst>
              <a:gd name="adj" fmla="val 11818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£87.6B / £675B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11480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/ Global · ONS · Eurostat · UNWTO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39364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67964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367964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£23.2B / £175B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367964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creator-influenced × bookable (global blend)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95848" y="5833872"/>
            <a:ext cx="0" cy="676656"/>
          </a:xfrm>
          <a:prstGeom prst="line">
            <a:avLst/>
          </a:prstGeom>
          <a:noFill/>
          <a:ln w="6350">
            <a:solidFill>
              <a:srgbClr val="24304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24448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Y5 SOM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24448" y="5961888"/>
            <a:ext cx="25907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£350M → £1.32B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24448" y="6382512"/>
            <a:ext cx="259072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Base → Global Viral · £16.2M → £61.6M net @ 4.65%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280931" y="5779008"/>
            <a:ext cx="259072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£2.5M SAFE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280931" y="5961888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£2.5M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41051" y="6053328"/>
            <a:ext cx="15848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· post → Series A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280931" y="6364224"/>
            <a:ext cx="999714" cy="16459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99219" y="6373368"/>
            <a:ext cx="981426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GTM 40%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0280645" y="6364224"/>
            <a:ext cx="874749" cy="164592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98933" y="6373368"/>
            <a:ext cx="856461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35%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11155394" y="6364224"/>
            <a:ext cx="374893" cy="164592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530287" y="6364224"/>
            <a:ext cx="249928" cy="16459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58488" y="548640"/>
            <a:ext cx="3474720" cy="4937760"/>
          </a:xfrm>
          <a:prstGeom prst="roundRect">
            <a:avLst>
              <a:gd name="adj" fmla="val 3947"/>
            </a:avLst>
          </a:prstGeom>
          <a:solidFill>
            <a:srgbClr val="111C36"/>
          </a:solidFill>
          <a:ln w="9525">
            <a:solidFill>
              <a:srgbClr val="22D3EE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41368" y="731520"/>
            <a:ext cx="3108960" cy="310896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4449928" y="4206240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Discover. Book. Earn.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449928" y="4480560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shoppable feed for travel.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541368" y="4754880"/>
            <a:ext cx="3108960" cy="310896"/>
          </a:xfrm>
          <a:prstGeom prst="roundRect">
            <a:avLst>
              <a:gd name="adj" fmla="val 44118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3" name="Text 30">
            <a:hlinkClick r:id="rId2" tooltip="Open the live investor pitch"/>
          </p:cNvPr>
          <p:cNvSpPr/>
          <p:nvPr/>
        </p:nvSpPr>
        <p:spPr>
          <a:xfrm>
            <a:off x="4541368" y="47548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Open the live investor pitch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 Live pitch · wander-spark-feed.lovable.app/invest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7699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699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Creators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6843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6843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Travellers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6598768" y="5157216"/>
            <a:ext cx="822960" cy="237744"/>
          </a:xfrm>
          <a:prstGeom prst="roundRect">
            <a:avLst>
              <a:gd name="adj" fmla="val 50000"/>
            </a:avLst>
          </a:prstGeom>
          <a:solidFill>
            <a:srgbClr val="1B2742"/>
          </a:solidFill>
          <a:ln w="12700">
            <a:solidFill>
              <a:srgbClr val="1B2742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598768" y="5157216"/>
            <a:ext cx="8229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182880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320040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29768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365760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moved to creators; booking didn't.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£675B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global leisure-travel bookings flow through OTAs that pay creators </a:t>
            </a:r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£0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own the customer. Creators send the intent — OTAs keep the margin and the data.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182880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20040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29768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Waitlist (organic, UK)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365760" y="2688336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3,200+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Creator LOIs · 4.2M reach</a:t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365760" y="2999232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signed · 3 cities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365760" y="3310128"/>
            <a:ext cx="36726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182880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0040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29768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65760" y="4425696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94360" y="4370832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</a:t>
            </a:r>
            <a:endParaRPr lang="en-US" sz="950" dirty="0"/>
          </a:p>
        </p:txBody>
      </p:sp>
      <p:sp>
        <p:nvSpPr>
          <p:cNvPr id="58" name="Text 55"/>
          <p:cNvSpPr/>
          <p:nvPr/>
        </p:nvSpPr>
        <p:spPr>
          <a:xfrm>
            <a:off x="1097280" y="4370832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ex-Booking.com · scaled supply 0→1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365760" y="4736592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594360" y="468172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950" dirty="0"/>
          </a:p>
        </p:txBody>
      </p:sp>
      <p:sp>
        <p:nvSpPr>
          <p:cNvPr id="61" name="Text 58"/>
          <p:cNvSpPr/>
          <p:nvPr/>
        </p:nvSpPr>
        <p:spPr>
          <a:xfrm>
            <a:off x="1097280" y="4681728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ex-TikTok Shop · creator-commerce rails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365760" y="5047488"/>
            <a:ext cx="146304" cy="146304"/>
          </a:xfrm>
          <a:prstGeom prst="ellipse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594360" y="4992624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CPO</a:t>
            </a:r>
            <a:endParaRPr lang="en-US" sz="950" dirty="0"/>
          </a:p>
        </p:txBody>
      </p:sp>
      <p:sp>
        <p:nvSpPr>
          <p:cNvPr id="64" name="Text 61"/>
          <p:cNvSpPr/>
          <p:nvPr/>
        </p:nvSpPr>
        <p:spPr>
          <a:xfrm>
            <a:off x="1097280" y="4992624"/>
            <a:ext cx="2986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ex-Airbnb · marketplace growth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7970368" y="548640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107528" y="685800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8217256" y="640080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000" dirty="0"/>
          </a:p>
        </p:txBody>
      </p:sp>
      <p:sp>
        <p:nvSpPr>
          <p:cNvPr id="68" name="Text 65"/>
          <p:cNvSpPr/>
          <p:nvPr/>
        </p:nvSpPr>
        <p:spPr>
          <a:xfrm>
            <a:off x="8153248" y="960120"/>
            <a:ext cx="3672688" cy="10698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Shoppable travel feed.</a:t>
            </a:r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Creator posts trip → traveller books in 2 taps → creator earns for life. Native checkout, unified inventory (stays · tours · experiences), persistent attribution.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7970368" y="2231136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8107528" y="2368296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217256" y="2322576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72" name="Text 69"/>
          <p:cNvSpPr/>
          <p:nvPr/>
        </p:nvSpPr>
        <p:spPr>
          <a:xfrm>
            <a:off x="8153248" y="2670048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Take-rate 4-7%  ·  blended Y5 4.65%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8153248" y="2907792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Creator rev-share 30-50% of net</a:t>
            </a:r>
            <a:endParaRPr lang="en-US" sz="950" dirty="0"/>
          </a:p>
        </p:txBody>
      </p:sp>
      <p:sp>
        <p:nvSpPr>
          <p:cNvPr id="74" name="Text 71"/>
          <p:cNvSpPr/>
          <p:nvPr/>
        </p:nvSpPr>
        <p:spPr>
          <a:xfrm>
            <a:off x="8153248" y="3145536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~55% contribution margin at scale</a:t>
            </a:r>
            <a:endParaRPr lang="en-US" sz="950" dirty="0"/>
          </a:p>
        </p:txBody>
      </p:sp>
      <p:sp>
        <p:nvSpPr>
          <p:cNvPr id="75" name="Text 72"/>
          <p:cNvSpPr/>
          <p:nvPr/>
        </p:nvSpPr>
        <p:spPr>
          <a:xfrm>
            <a:off x="8153248" y="3383280"/>
            <a:ext cx="376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Zero paid acquisition Y1-2 (creator-led)</a:t>
            </a:r>
            <a:endParaRPr lang="en-US" sz="950" dirty="0"/>
          </a:p>
        </p:txBody>
      </p:sp>
      <p:sp>
        <p:nvSpPr>
          <p:cNvPr id="76" name="Shape 73"/>
          <p:cNvSpPr/>
          <p:nvPr/>
        </p:nvSpPr>
        <p:spPr>
          <a:xfrm>
            <a:off x="7970368" y="3913632"/>
            <a:ext cx="4038448" cy="1572768"/>
          </a:xfrm>
          <a:prstGeom prst="roundRect">
            <a:avLst>
              <a:gd name="adj" fmla="val 5814"/>
            </a:avLst>
          </a:prstGeom>
          <a:solidFill>
            <a:srgbClr val="111C36"/>
          </a:solidFill>
          <a:ln w="6350">
            <a:solidFill>
              <a:srgbClr val="243049"/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8107528" y="4050792"/>
            <a:ext cx="45720" cy="1828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8217256" y="4005072"/>
            <a:ext cx="376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PLAN: PROVE → SCALE → DEFEND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8153248" y="4407408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8153248" y="4407408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</a:t>
            </a:r>
            <a:endParaRPr lang="en-US" sz="800" dirty="0"/>
          </a:p>
        </p:txBody>
      </p:sp>
      <p:sp>
        <p:nvSpPr>
          <p:cNvPr id="81" name="Text 78"/>
          <p:cNvSpPr/>
          <p:nvPr/>
        </p:nvSpPr>
        <p:spPr>
          <a:xfrm>
            <a:off x="8839048" y="4370832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M0-18 · UK · 2.4k cr · £44M GBV · 40% M3 retention</a:t>
            </a:r>
            <a:endParaRPr lang="en-US" sz="750" dirty="0"/>
          </a:p>
        </p:txBody>
      </p:sp>
      <p:sp>
        <p:nvSpPr>
          <p:cNvPr id="82" name="Shape 79"/>
          <p:cNvSpPr/>
          <p:nvPr/>
        </p:nvSpPr>
        <p:spPr>
          <a:xfrm>
            <a:off x="8153248" y="4718304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8153248" y="4718304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800" dirty="0"/>
          </a:p>
        </p:txBody>
      </p:sp>
      <p:sp>
        <p:nvSpPr>
          <p:cNvPr id="84" name="Text 81"/>
          <p:cNvSpPr/>
          <p:nvPr/>
        </p:nvSpPr>
        <p:spPr>
          <a:xfrm>
            <a:off x="8839048" y="4681728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M18-44 · EU-5 · 14k cr · £259M · CAC payback &lt;6mo</a:t>
            </a:r>
            <a:endParaRPr lang="en-US" sz="750" dirty="0"/>
          </a:p>
        </p:txBody>
      </p:sp>
      <p:sp>
        <p:nvSpPr>
          <p:cNvPr id="85" name="Shape 82"/>
          <p:cNvSpPr/>
          <p:nvPr/>
        </p:nvSpPr>
        <p:spPr>
          <a:xfrm>
            <a:off x="8153248" y="5029200"/>
            <a:ext cx="640080" cy="201168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8153248" y="5029200"/>
            <a:ext cx="640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endParaRPr lang="en-US" sz="800" dirty="0"/>
          </a:p>
        </p:txBody>
      </p:sp>
      <p:sp>
        <p:nvSpPr>
          <p:cNvPr id="87" name="Text 84"/>
          <p:cNvSpPr/>
          <p:nvPr/>
        </p:nvSpPr>
        <p:spPr>
          <a:xfrm>
            <a:off x="8839048" y="4992624"/>
            <a:ext cx="30326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FA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M44-60 · 24k cr · £350M UK Base · Global Viral upside £1.32B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2026-05-18T20:27:49Z</dcterms:created>
  <dcterms:modified xsi:type="dcterms:W3CDTF">2026-05-18T20:27:49Z</dcterms:modified>
</cp:coreProperties>
</file>