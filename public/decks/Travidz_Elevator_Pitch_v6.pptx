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travidz.com/invest" TargetMode="External"/><Relationship Id="rId1" Type="http://schemas.openxmlformats.org/officeDocument/2006/relationships/image" Target="../media/image-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11C36"/>
          </a:solidFill>
          <a:ln w="12700">
            <a:solidFill>
              <a:srgbClr val="111C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09728"/>
            <a:ext cx="237744" cy="23774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TRAVIDZ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737360" y="91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Creator-led travel commerce  ·  Seed round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91440"/>
            <a:ext cx="5806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 SAFE  ·  18-mo runway  ·  Next: Series A at £18M ARR run-rate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5669280"/>
            <a:ext cx="11825935" cy="1005840"/>
          </a:xfrm>
          <a:prstGeom prst="roundRect">
            <a:avLst>
              <a:gd name="adj" fmla="val 11818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£87.6B / £675B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/ Global · ONS · Eurostat · UNWTO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39364" y="5833872"/>
            <a:ext cx="0" cy="676656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7964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67964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£25.2B / £175B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67964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 creator-influenced × bookable (UK) · 26% global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95848" y="5833872"/>
            <a:ext cx="0" cy="676656"/>
          </a:xfrm>
          <a:prstGeom prst="line">
            <a:avLst/>
          </a:prstGeom>
          <a:noFill/>
          <a:ln w="6350">
            <a:solidFill>
              <a:srgbClr val="2430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4448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 SOM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24448" y="5961888"/>
            <a:ext cx="25907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£444M → £1.32B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6382512"/>
            <a:ext cx="25907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24k cr × £18.5k GBV · 4.65% net take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280931" y="5779008"/>
            <a:ext cx="25907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· £2.5M SAFE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280931" y="59618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£2.5M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241051" y="6053328"/>
            <a:ext cx="15848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· post → Series 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280931" y="6364224"/>
            <a:ext cx="999714" cy="16459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219" y="6373368"/>
            <a:ext cx="98142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40%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0280645" y="6364224"/>
            <a:ext cx="874749" cy="1645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98933" y="6373368"/>
            <a:ext cx="856461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35%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11155394" y="6364224"/>
            <a:ext cx="374893" cy="16459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30287" y="6364224"/>
            <a:ext cx="249928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58488" y="548640"/>
            <a:ext cx="3474720" cy="4937760"/>
          </a:xfrm>
          <a:prstGeom prst="roundRect">
            <a:avLst>
              <a:gd name="adj" fmla="val 3947"/>
            </a:avLst>
          </a:prstGeom>
          <a:solidFill>
            <a:srgbClr val="111C36"/>
          </a:solidFill>
          <a:ln w="9525">
            <a:solidFill>
              <a:srgbClr val="22D3EE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731520"/>
            <a:ext cx="3108960" cy="31089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449928" y="420624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Book. Earn.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449928" y="448056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shoppable feed for travel.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541368" y="4754880"/>
            <a:ext cx="3108960" cy="310896"/>
          </a:xfrm>
          <a:prstGeom prst="roundRect">
            <a:avLst>
              <a:gd name="adj" fmla="val 44118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0">
            <a:hlinkClick r:id="rId2" tooltip="Open the live investor pitch"/>
          </p:cNvPr>
          <p:cNvSpPr/>
          <p:nvPr/>
        </p:nvSpPr>
        <p:spPr>
          <a:xfrm>
            <a:off x="4541368" y="47548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Open the live investor pitch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Live pitch · travidz.com/invest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769968" y="515721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769968" y="5157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684368" y="515721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84368" y="5157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598768" y="5157216"/>
            <a:ext cx="822960" cy="237744"/>
          </a:xfrm>
          <a:prstGeom prst="roundRect">
            <a:avLst>
              <a:gd name="adj" fmla="val 50000"/>
            </a:avLst>
          </a:prstGeom>
          <a:solidFill>
            <a:srgbClr val="1B2742"/>
          </a:solidFill>
          <a:ln w="12700">
            <a:solidFill>
              <a:srgbClr val="1B274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98768" y="51572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182880" y="548640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20040" y="685800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29768" y="640080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365760" y="960120"/>
            <a:ext cx="3672688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moved to creators; booking didn't.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£675B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global leisure-travel bookings flow through OTAs that pay creators </a:t>
            </a:r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own the customer. Creators send the intent — OTAs keep the margin and the data.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182880" y="2231136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320040" y="236829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29768" y="2322576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· FOUNDING 5,000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365760" y="2688336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Creator cap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365760" y="2688336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365760" y="2999232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 split locked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65760" y="2999232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365760" y="3310128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tier · rolling 12mo GBV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365760" y="3310128"/>
            <a:ext cx="367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£25k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182880" y="3913632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050792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29768" y="4005072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365760" y="4425696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4360" y="437083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1097280" y="4370832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· CEO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365760" y="4736592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94360" y="468172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Linda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1097280" y="4681728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365760" y="5047488"/>
            <a:ext cx="146304" cy="146304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94360" y="49926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1097280" y="4992624"/>
            <a:ext cx="2986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&amp; growth post-seed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7970368" y="548640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8107528" y="685800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8217256" y="640080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8153248" y="960120"/>
            <a:ext cx="3672688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Shoppable travel feed.</a:t>
            </a:r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Creator posts trip → traveller books in 2 taps → creator earns for life. Native checkout, unified inventory (stays · tours · experiences), persistent attribution.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7970368" y="2231136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107528" y="2368296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217256" y="2322576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(V6 MODEL)</a:t>
            </a:r>
            <a:endParaRPr lang="en-US" sz="1000" dirty="0"/>
          </a:p>
        </p:txBody>
      </p:sp>
      <p:sp>
        <p:nvSpPr>
          <p:cNvPr id="72" name="Text 69"/>
          <p:cNvSpPr/>
          <p:nvPr/>
        </p:nvSpPr>
        <p:spPr>
          <a:xfrm>
            <a:off x="8153248" y="2670048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11% gross commission on every booking</a:t>
            </a:r>
            <a:endParaRPr lang="en-US" sz="950" dirty="0"/>
          </a:p>
        </p:txBody>
      </p:sp>
      <p:sp>
        <p:nvSpPr>
          <p:cNvPr id="73" name="Text 70"/>
          <p:cNvSpPr/>
          <p:nvPr/>
        </p:nvSpPr>
        <p:spPr>
          <a:xfrm>
            <a:off x="8153248" y="2907792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Stripe 2.9% + £0.20 shared off the top</a:t>
            </a:r>
            <a:endParaRPr lang="en-US" sz="950" dirty="0"/>
          </a:p>
        </p:txBody>
      </p:sp>
      <p:sp>
        <p:nvSpPr>
          <p:cNvPr id="74" name="Text 71"/>
          <p:cNvSpPr/>
          <p:nvPr/>
        </p:nvSpPr>
        <p:spPr>
          <a:xfrm>
            <a:off x="8153248" y="3145536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 pool split 50/50/50/40/30 by tier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8153248" y="3383280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Blended Y5 take-rate 4.65% net to Travidz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8153248" y="3621024"/>
            <a:ext cx="3764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Stays + tours/experiences only · no restaurants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7970368" y="3913632"/>
            <a:ext cx="4038448" cy="1572768"/>
          </a:xfrm>
          <a:prstGeom prst="roundRect">
            <a:avLst>
              <a:gd name="adj" fmla="val 5814"/>
            </a:avLst>
          </a:prstGeom>
          <a:solidFill>
            <a:srgbClr val="111C36"/>
          </a:solidFill>
          <a:ln w="6350">
            <a:solidFill>
              <a:srgbClr val="243049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107528" y="4050792"/>
            <a:ext cx="4572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217256" y="4005072"/>
            <a:ext cx="376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PLAN: PROVE → SCALE → DEFEND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8153248" y="4407408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153248" y="440740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800" dirty="0"/>
          </a:p>
        </p:txBody>
      </p:sp>
      <p:sp>
        <p:nvSpPr>
          <p:cNvPr id="82" name="Text 79"/>
          <p:cNvSpPr/>
          <p:nvPr/>
        </p:nvSpPr>
        <p:spPr>
          <a:xfrm>
            <a:off x="8839048" y="4370832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M0-18 · UK · 2.4k cr · £44M GBV · 40% M3 retention</a:t>
            </a:r>
            <a:endParaRPr lang="en-US" sz="750" dirty="0"/>
          </a:p>
        </p:txBody>
      </p:sp>
      <p:sp>
        <p:nvSpPr>
          <p:cNvPr id="83" name="Shape 80"/>
          <p:cNvSpPr/>
          <p:nvPr/>
        </p:nvSpPr>
        <p:spPr>
          <a:xfrm>
            <a:off x="8153248" y="4718304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8153248" y="471830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85" name="Text 82"/>
          <p:cNvSpPr/>
          <p:nvPr/>
        </p:nvSpPr>
        <p:spPr>
          <a:xfrm>
            <a:off x="8839048" y="4681728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M18-44 · EU-5 · 14k cr · £259M · CAC payback &lt;6mo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8153248" y="5029200"/>
            <a:ext cx="640080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153248" y="502920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8839048" y="4992624"/>
            <a:ext cx="303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M44-60 · 24k cr · £444M UK Base · Global Viral upside £1.32B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2026-05-28T06:05:54Z</dcterms:created>
  <dcterms:modified xsi:type="dcterms:W3CDTF">2026-05-28T06:05:54Z</dcterms:modified>
</cp:coreProperties>
</file>